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5"/>
  </p:notesMasterIdLst>
  <p:sldIdLst>
    <p:sldId id="256" r:id="rId3"/>
    <p:sldId id="257" r:id="rId4"/>
    <p:sldId id="267" r:id="rId5"/>
    <p:sldId id="258" r:id="rId6"/>
    <p:sldId id="259" r:id="rId7"/>
    <p:sldId id="260" r:id="rId8"/>
    <p:sldId id="261" r:id="rId9"/>
    <p:sldId id="266" r:id="rId10"/>
    <p:sldId id="262" r:id="rId11"/>
    <p:sldId id="263" r:id="rId12"/>
    <p:sldId id="264" r:id="rId13"/>
    <p:sldId id="265" r:id="rId14"/>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65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2/26/2026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26-02-2026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26-02-2026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26-02-2026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26-02-2026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26-02-2026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26-02-2026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26-02-2026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26-02-2026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26-02-2026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26-02-2026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26-02-2026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publication/331106576_Sentiment_Analysis_on_Twitter_Data_using_Apache_Spark_Framework" TargetMode="External"/><Relationship Id="rId7" Type="http://schemas.openxmlformats.org/officeDocument/2006/relationships/hyperlink" Target="https://www.sciencedirect.com/science/article/pii/S1877050920315428"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8308433" TargetMode="External"/><Relationship Id="rId5" Type="http://schemas.openxmlformats.org/officeDocument/2006/relationships/hyperlink" Target="https://www.sciencedirect.com/science/article/pii/S0957417423003639" TargetMode="External"/><Relationship Id="rId4" Type="http://schemas.openxmlformats.org/officeDocument/2006/relationships/hyperlink" Target="https://arxiv.org/pdf/1601.06971"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390" y="300355"/>
            <a:ext cx="10515600" cy="1128395"/>
          </a:xfrm>
        </p:spPr>
        <p:txBody>
          <a:bodyPr>
            <a:noAutofit/>
          </a:bodyPr>
          <a:lstStyle/>
          <a:p>
            <a:pPr algn="ctr">
              <a:lnSpc>
                <a:spcPct val="100000"/>
              </a:lnSpc>
            </a:pPr>
            <a: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t>Big Data Technologies</a:t>
            </a: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Social Media Sentiment Analysis on Twitter </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4"/>
            <a:ext cx="10515600" cy="359240"/>
          </a:xfrm>
        </p:spPr>
        <p:txBody>
          <a:bodyPr>
            <a:noAutofit/>
          </a:bodyPr>
          <a:lstStyle/>
          <a:p>
            <a:pPr marL="0" indent="0" algn="ctr">
              <a:buNone/>
            </a:pPr>
            <a:r>
              <a:rPr lang="en-IN" sz="2000" b="1" dirty="0"/>
              <a:t>Team No- 14</a:t>
            </a:r>
          </a:p>
          <a:p>
            <a:pPr marL="0" indent="0" algn="ctr">
              <a:buNone/>
            </a:pPr>
            <a:r>
              <a:rPr lang="en-IN" sz="2000" b="1" dirty="0"/>
              <a:t>Roll No		Name</a:t>
            </a:r>
          </a:p>
          <a:p>
            <a:pPr marL="0" indent="0" algn="ctr">
              <a:buNone/>
            </a:pPr>
            <a:r>
              <a:rPr lang="en-IN" sz="2000" b="1" dirty="0"/>
              <a:t>SV Karthikeya                2320030501</a:t>
            </a:r>
          </a:p>
          <a:p>
            <a:pPr marL="0" indent="0" algn="ctr">
              <a:buNone/>
            </a:pPr>
            <a:r>
              <a:rPr lang="en-IN" sz="2000" b="1" dirty="0"/>
              <a:t>P Rahul Varma              2320030258</a:t>
            </a:r>
          </a:p>
          <a:p>
            <a:pPr marL="0" indent="0" algn="ctr">
              <a:buNone/>
            </a:pPr>
            <a:r>
              <a:rPr lang="en-IN" sz="2000" b="1" dirty="0"/>
              <a:t>K Manjith Reddy          2320030003</a:t>
            </a: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057275" y="3028210"/>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1009409" y="1718552"/>
            <a:ext cx="10515600" cy="500292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Abstract</a:t>
            </a:r>
          </a:p>
          <a:p>
            <a:pPr marL="0" indent="0">
              <a:buNone/>
            </a:pPr>
            <a:r>
              <a:rPr lang="en-IN" dirty="0">
                <a:latin typeface="Times New Roman" panose="02020603050405020304" pitchFamily="18" charset="0"/>
                <a:cs typeface="Times New Roman" panose="02020603050405020304" pitchFamily="18" charset="0"/>
              </a:rPr>
              <a:t>• Introduction</a:t>
            </a:r>
          </a:p>
          <a:p>
            <a:pPr marL="0" indent="0">
              <a:buNone/>
            </a:pPr>
            <a:r>
              <a:rPr lang="en-IN" sz="2800" dirty="0">
                <a:latin typeface="Times New Roman" panose="02020603050405020304" pitchFamily="18" charset="0"/>
                <a:cs typeface="Times New Roman" panose="02020603050405020304" pitchFamily="18" charset="0"/>
              </a:rPr>
              <a:t>• Objectives</a:t>
            </a:r>
          </a:p>
          <a:p>
            <a:pPr marL="0" indent="0">
              <a:buNone/>
            </a:pPr>
            <a:r>
              <a:rPr lang="en-IN" sz="2800" dirty="0">
                <a:latin typeface="Times New Roman" panose="02020603050405020304" pitchFamily="18" charset="0"/>
                <a:cs typeface="Times New Roman" panose="02020603050405020304" pitchFamily="18" charset="0"/>
              </a:rPr>
              <a:t>• Literature Survey</a:t>
            </a:r>
          </a:p>
          <a:p>
            <a:pPr marL="0" indent="0">
              <a:buNone/>
            </a:pPr>
            <a:r>
              <a:rPr lang="en-IN" sz="2800" dirty="0">
                <a:latin typeface="Times New Roman" panose="02020603050405020304" pitchFamily="18" charset="0"/>
                <a:cs typeface="Times New Roman" panose="02020603050405020304" pitchFamily="18" charset="0"/>
              </a:rPr>
              <a:t>• Implementation</a:t>
            </a:r>
          </a:p>
          <a:p>
            <a:pPr marL="0" indent="0">
              <a:buNone/>
            </a:pPr>
            <a:r>
              <a:rPr lang="en-IN" sz="2800" dirty="0">
                <a:latin typeface="Times New Roman" panose="02020603050405020304" pitchFamily="18" charset="0"/>
                <a:cs typeface="Times New Roman" panose="02020603050405020304" pitchFamily="18" charset="0"/>
              </a:rPr>
              <a:t>• Conclusion</a:t>
            </a:r>
          </a:p>
          <a:p>
            <a:pPr marL="0" indent="0">
              <a:buNone/>
            </a:pPr>
            <a:r>
              <a:rPr lang="en-IN" sz="2800" dirty="0">
                <a:latin typeface="Times New Roman" panose="02020603050405020304" pitchFamily="18" charset="0"/>
                <a:cs typeface="Times New Roman" panose="02020603050405020304" pitchFamily="18" charset="0"/>
              </a:rPr>
              <a:t>• References</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FBCCE-9C1B-EECA-DF25-A9601E14B6A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Abstract</a:t>
            </a:r>
            <a:endParaRPr lang="en-IN" dirty="0"/>
          </a:p>
        </p:txBody>
      </p:sp>
      <p:sp>
        <p:nvSpPr>
          <p:cNvPr id="3" name="Content Placeholder 2">
            <a:extLst>
              <a:ext uri="{FF2B5EF4-FFF2-40B4-BE49-F238E27FC236}">
                <a16:creationId xmlns:a16="http://schemas.microsoft.com/office/drawing/2014/main" id="{04228052-8D29-9586-CD94-15FE513AC789}"/>
              </a:ext>
            </a:extLst>
          </p:cNvPr>
          <p:cNvSpPr>
            <a:spLocks noGrp="1"/>
          </p:cNvSpPr>
          <p:nvPr>
            <p:ph idx="1"/>
          </p:nvPr>
        </p:nvSpPr>
        <p:spPr>
          <a:xfrm>
            <a:off x="838200" y="1469009"/>
            <a:ext cx="10515600" cy="4351338"/>
          </a:xfrm>
        </p:spPr>
        <p:txBody>
          <a:bodyPr>
            <a:noAutofit/>
          </a:bodyPr>
          <a:lstStyle/>
          <a:p>
            <a:pPr algn="just"/>
            <a:r>
              <a:rPr lang="en-US" sz="2500" dirty="0">
                <a:latin typeface="Times New Roman" panose="02020603050405020304" pitchFamily="18" charset="0"/>
                <a:cs typeface="Times New Roman" panose="02020603050405020304" pitchFamily="18" charset="0"/>
              </a:rPr>
              <a:t>Social media platforms generate a massive amount of data every day, and Twitter is one of the most popular platforms where users share their opinions through short messages called tweets. These tweets contain valuable information about public emotions, reactions, and views on different topics. However, Twitter data is unstructured and available in very large volumes, which makes manual analysis difficult and inefficient.</a:t>
            </a:r>
          </a:p>
          <a:p>
            <a:pPr algn="just"/>
            <a:r>
              <a:rPr lang="en-US" sz="2500" dirty="0">
                <a:latin typeface="Times New Roman" panose="02020603050405020304" pitchFamily="18" charset="0"/>
                <a:cs typeface="Times New Roman" panose="02020603050405020304" pitchFamily="18" charset="0"/>
              </a:rPr>
              <a:t>This project focuses on performing sentiment analysis on Twitter data using exploratory data analysis techniques and big data technologies. Tweets are classified into positive, negative, and neutral categories to understand overall sentiment trends. Tools such as Apache Spark and Hadoop are used to process large-scale data efficiently. The results are visualized using charts and graphs to provide meaningful insights into public opinion and demonstrate the importance of big data technologies in social media analysis.</a:t>
            </a:r>
          </a:p>
        </p:txBody>
      </p:sp>
      <p:sp>
        <p:nvSpPr>
          <p:cNvPr id="5" name="Footer Placeholder 4">
            <a:extLst>
              <a:ext uri="{FF2B5EF4-FFF2-40B4-BE49-F238E27FC236}">
                <a16:creationId xmlns:a16="http://schemas.microsoft.com/office/drawing/2014/main" id="{9C75B476-645A-19AA-89D8-BE0A057CF616}"/>
              </a:ext>
            </a:extLst>
          </p:cNvPr>
          <p:cNvSpPr>
            <a:spLocks noGrp="1"/>
          </p:cNvSpPr>
          <p:nvPr>
            <p:ph type="ftr" sz="quarter" idx="11"/>
          </p:nvPr>
        </p:nvSpPr>
        <p:spPr/>
        <p:txBody>
          <a:bodyPr/>
          <a:lstStyle/>
          <a:p>
            <a:r>
              <a:rPr lang="en-US" dirty="0"/>
              <a:t>REVIEW – 1    </a:t>
            </a:r>
          </a:p>
        </p:txBody>
      </p:sp>
      <p:sp>
        <p:nvSpPr>
          <p:cNvPr id="6" name="Slide Number Placeholder 5">
            <a:extLst>
              <a:ext uri="{FF2B5EF4-FFF2-40B4-BE49-F238E27FC236}">
                <a16:creationId xmlns:a16="http://schemas.microsoft.com/office/drawing/2014/main" id="{90CC7C66-A72D-0EC5-2F8E-2FB74887C9AF}"/>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92345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712070"/>
            <a:ext cx="10515600" cy="5002923"/>
          </a:xfrm>
        </p:spPr>
        <p:txBody>
          <a:bodyPr>
            <a:normAutofit/>
          </a:bodyPr>
          <a:lstStyle/>
          <a:p>
            <a:pPr algn="just"/>
            <a:r>
              <a:rPr lang="en-US" sz="2500" dirty="0">
                <a:latin typeface="Times New Roman" panose="02020603050405020304" pitchFamily="18" charset="0"/>
                <a:cs typeface="Times New Roman" panose="02020603050405020304" pitchFamily="18" charset="0"/>
              </a:rPr>
              <a:t>In today’s digital era, social media plays a significant role in communication and information sharing. Millions of users express their thoughts, opinions, and experiences on platforms like Twitter every day. These posts generate a huge amount of data that can be analyzed to understand public sentiment on various topics such as products, events, and social issues.</a:t>
            </a:r>
          </a:p>
          <a:p>
            <a:pPr algn="just"/>
            <a:r>
              <a:rPr lang="en-US" sz="2500" dirty="0">
                <a:latin typeface="Times New Roman" panose="02020603050405020304" pitchFamily="18" charset="0"/>
                <a:cs typeface="Times New Roman" panose="02020603050405020304" pitchFamily="18" charset="0"/>
              </a:rPr>
              <a:t>Due to the high volume, velocity, and variety of social media data, traditional data processing systems are not sufficient. Big data technologies such as Hadoop and Apache Spark help in storing and processing large datasets efficiently. Sentiment analysis is used to determine whether a tweet expresses a positive, negative, or neutral opinion. In this project, we combine sentiment analysis with big data tools to analyze Twitter data and extract useful insights for decision-making and trend analysis.</a:t>
            </a:r>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858655"/>
            <a:ext cx="10515600" cy="5002923"/>
          </a:xfrm>
        </p:spPr>
        <p:txBody>
          <a:bodyPr>
            <a:normAutofit/>
          </a:bodyPr>
          <a:lstStyle/>
          <a:p>
            <a:pPr marL="0" indent="0">
              <a:buNone/>
            </a:pPr>
            <a:r>
              <a:rPr lang="en-US" sz="3000" dirty="0">
                <a:latin typeface="Times New Roman" panose="02020603050405020304" pitchFamily="18" charset="0"/>
                <a:cs typeface="Times New Roman" panose="02020603050405020304" pitchFamily="18" charset="0"/>
              </a:rPr>
              <a:t>• To collect and analyze Twitter dataset.</a:t>
            </a:r>
          </a:p>
          <a:p>
            <a:pPr marL="0" indent="0">
              <a:buNone/>
            </a:pPr>
            <a:endParaRPr lang="en-US" sz="3000" dirty="0">
              <a:latin typeface="Times New Roman" panose="02020603050405020304" pitchFamily="18" charset="0"/>
              <a:cs typeface="Times New Roman" panose="02020603050405020304" pitchFamily="18" charset="0"/>
            </a:endParaRPr>
          </a:p>
          <a:p>
            <a:pPr marL="457200" lvl="1" indent="0">
              <a:buNone/>
            </a:pPr>
            <a:r>
              <a:rPr lang="en-US" sz="3000" dirty="0">
                <a:latin typeface="Times New Roman" panose="02020603050405020304" pitchFamily="18" charset="0"/>
                <a:cs typeface="Times New Roman" panose="02020603050405020304" pitchFamily="18" charset="0"/>
              </a:rPr>
              <a:t>• To classify tweets into Positive, Negative, and Neutral sentiments.</a:t>
            </a:r>
          </a:p>
          <a:p>
            <a:pPr marL="457200" lvl="1" indent="0">
              <a:buNone/>
            </a:pPr>
            <a:endParaRPr lang="en-US" sz="3000" dirty="0">
              <a:latin typeface="Times New Roman" panose="02020603050405020304" pitchFamily="18" charset="0"/>
              <a:cs typeface="Times New Roman" panose="02020603050405020304" pitchFamily="18" charset="0"/>
            </a:endParaRPr>
          </a:p>
          <a:p>
            <a:pPr marL="457200" lvl="1" indent="0">
              <a:buNone/>
            </a:pPr>
            <a:r>
              <a:rPr lang="en-US" sz="3000" dirty="0">
                <a:latin typeface="Times New Roman" panose="02020603050405020304" pitchFamily="18" charset="0"/>
                <a:cs typeface="Times New Roman" panose="02020603050405020304" pitchFamily="18" charset="0"/>
              </a:rPr>
              <a:t>• To perform Exploratory Data Analysis (EDA).</a:t>
            </a:r>
          </a:p>
          <a:p>
            <a:pPr marL="457200" lvl="1" indent="0">
              <a:buNone/>
            </a:pPr>
            <a:endParaRPr lang="en-US" sz="3000" dirty="0">
              <a:latin typeface="Times New Roman" panose="02020603050405020304" pitchFamily="18" charset="0"/>
              <a:cs typeface="Times New Roman" panose="02020603050405020304" pitchFamily="18" charset="0"/>
            </a:endParaRPr>
          </a:p>
          <a:p>
            <a:pPr marL="457200" lvl="1" indent="0">
              <a:buNone/>
            </a:pPr>
            <a:r>
              <a:rPr lang="en-US" sz="3000" dirty="0">
                <a:latin typeface="Times New Roman" panose="02020603050405020304" pitchFamily="18" charset="0"/>
                <a:cs typeface="Times New Roman" panose="02020603050405020304" pitchFamily="18" charset="0"/>
              </a:rPr>
              <a:t>• To use Big Data tools like Hadoop and Spark for processing.</a:t>
            </a:r>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Table 2">
            <a:extLst>
              <a:ext uri="{FF2B5EF4-FFF2-40B4-BE49-F238E27FC236}">
                <a16:creationId xmlns:a16="http://schemas.microsoft.com/office/drawing/2014/main" id="{FC3A074C-637B-BCBD-F76E-942D03495FB7}"/>
              </a:ext>
            </a:extLst>
          </p:cNvPr>
          <p:cNvGraphicFramePr>
            <a:graphicFrameLocks noGrp="1"/>
          </p:cNvGraphicFramePr>
          <p:nvPr>
            <p:extLst>
              <p:ext uri="{D42A27DB-BD31-4B8C-83A1-F6EECF244321}">
                <p14:modId xmlns:p14="http://schemas.microsoft.com/office/powerpoint/2010/main" val="2741190454"/>
              </p:ext>
            </p:extLst>
          </p:nvPr>
        </p:nvGraphicFramePr>
        <p:xfrm>
          <a:off x="838199" y="1321202"/>
          <a:ext cx="10515600" cy="48510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1350949089"/>
                    </a:ext>
                  </a:extLst>
                </a:gridCol>
                <a:gridCol w="2628900">
                  <a:extLst>
                    <a:ext uri="{9D8B030D-6E8A-4147-A177-3AD203B41FA5}">
                      <a16:colId xmlns:a16="http://schemas.microsoft.com/office/drawing/2014/main" val="3582922934"/>
                    </a:ext>
                  </a:extLst>
                </a:gridCol>
                <a:gridCol w="2628900">
                  <a:extLst>
                    <a:ext uri="{9D8B030D-6E8A-4147-A177-3AD203B41FA5}">
                      <a16:colId xmlns:a16="http://schemas.microsoft.com/office/drawing/2014/main" val="239154684"/>
                    </a:ext>
                  </a:extLst>
                </a:gridCol>
                <a:gridCol w="2628900">
                  <a:extLst>
                    <a:ext uri="{9D8B030D-6E8A-4147-A177-3AD203B41FA5}">
                      <a16:colId xmlns:a16="http://schemas.microsoft.com/office/drawing/2014/main" val="181447199"/>
                    </a:ext>
                  </a:extLst>
                </a:gridCol>
              </a:tblGrid>
              <a:tr h="857555">
                <a:tc>
                  <a:txBody>
                    <a:bodyPr/>
                    <a:lstStyle/>
                    <a:p>
                      <a:pPr>
                        <a:buNone/>
                      </a:pPr>
                      <a:r>
                        <a:rPr lang="en-IN" b="1" dirty="0"/>
                        <a:t>Paper Link</a:t>
                      </a:r>
                      <a:endParaRPr lang="en-IN" dirty="0"/>
                    </a:p>
                  </a:txBody>
                  <a:tcPr anchor="ctr"/>
                </a:tc>
                <a:tc>
                  <a:txBody>
                    <a:bodyPr/>
                    <a:lstStyle/>
                    <a:p>
                      <a:r>
                        <a:rPr lang="en-IN" dirty="0"/>
                        <a:t>Author Name</a:t>
                      </a:r>
                    </a:p>
                  </a:txBody>
                  <a:tcPr/>
                </a:tc>
                <a:tc>
                  <a:txBody>
                    <a:bodyPr/>
                    <a:lstStyle/>
                    <a:p>
                      <a:r>
                        <a:rPr lang="en-IN" dirty="0"/>
                        <a:t>Journal/Conference</a:t>
                      </a:r>
                    </a:p>
                  </a:txBody>
                  <a:tcPr/>
                </a:tc>
                <a:tc>
                  <a:txBody>
                    <a:bodyPr/>
                    <a:lstStyle/>
                    <a:p>
                      <a:r>
                        <a:rPr lang="en-IN" dirty="0"/>
                        <a:t>Drawbacks / Future Scope</a:t>
                      </a:r>
                    </a:p>
                  </a:txBody>
                  <a:tcPr/>
                </a:tc>
                <a:extLst>
                  <a:ext uri="{0D108BD9-81ED-4DB2-BD59-A6C34878D82A}">
                    <a16:rowId xmlns:a16="http://schemas.microsoft.com/office/drawing/2014/main" val="4135119911"/>
                  </a:ext>
                </a:extLst>
              </a:tr>
              <a:tr h="814677">
                <a:tc>
                  <a:txBody>
                    <a:bodyPr/>
                    <a:lstStyle/>
                    <a:p>
                      <a:r>
                        <a:rPr lang="en-IN" dirty="0">
                          <a:latin typeface="Times New Roman" panose="02020603050405020304" pitchFamily="18" charset="0"/>
                          <a:cs typeface="Times New Roman" panose="02020603050405020304" pitchFamily="18" charset="0"/>
                          <a:hlinkClick r:id="rId3"/>
                        </a:rPr>
                        <a:t>Link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Badran et al.</a:t>
                      </a:r>
                    </a:p>
                  </a:txBody>
                  <a:tcPr/>
                </a:tc>
                <a:tc>
                  <a:txBody>
                    <a:bodyPr/>
                    <a:lstStyle/>
                    <a:p>
                      <a:r>
                        <a:rPr lang="en-IN" sz="1700" dirty="0"/>
                        <a:t>ResearchGate (Conference)</a:t>
                      </a:r>
                    </a:p>
                  </a:txBody>
                  <a:tcPr/>
                </a:tc>
                <a:tc>
                  <a:txBody>
                    <a:bodyPr/>
                    <a:lstStyle/>
                    <a:p>
                      <a:r>
                        <a:rPr lang="en-US" sz="1000" dirty="0">
                          <a:latin typeface="Times New Roman" panose="02020603050405020304" pitchFamily="18" charset="0"/>
                          <a:cs typeface="Times New Roman" panose="02020603050405020304" pitchFamily="18" charset="0"/>
                        </a:rPr>
                        <a:t>Focuses on Spark scalability; doesn’t include Hadoop integration or real-time streaming.</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40009426"/>
                  </a:ext>
                </a:extLst>
              </a:tr>
              <a:tr h="731829">
                <a:tc>
                  <a:txBody>
                    <a:bodyPr/>
                    <a:lstStyle/>
                    <a:p>
                      <a:r>
                        <a:rPr lang="en-IN" dirty="0">
                          <a:latin typeface="Times New Roman" panose="02020603050405020304" pitchFamily="18" charset="0"/>
                          <a:cs typeface="Times New Roman" panose="02020603050405020304" pitchFamily="18" charset="0"/>
                          <a:hlinkClick r:id="rId4"/>
                        </a:rPr>
                        <a:t>Link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V. Kharde &amp; S. Sonawane</a:t>
                      </a:r>
                    </a:p>
                  </a:txBody>
                  <a:tcPr/>
                </a:tc>
                <a:tc>
                  <a:txBody>
                    <a:bodyPr/>
                    <a:lstStyle/>
                    <a:p>
                      <a:r>
                        <a:rPr lang="en-IN" dirty="0"/>
                        <a:t>arXiv (Survey)</a:t>
                      </a:r>
                    </a:p>
                  </a:txBody>
                  <a:tcPr/>
                </a:tc>
                <a:tc>
                  <a:txBody>
                    <a:bodyPr/>
                    <a:lstStyle/>
                    <a:p>
                      <a:r>
                        <a:rPr lang="en-US" sz="1000" dirty="0">
                          <a:latin typeface="Times New Roman" panose="02020603050405020304" pitchFamily="18" charset="0"/>
                          <a:cs typeface="Times New Roman" panose="02020603050405020304" pitchFamily="18" charset="0"/>
                        </a:rPr>
                        <a:t>Older survey; needs updates with deep learning and big data frameworks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8949813"/>
                  </a:ext>
                </a:extLst>
              </a:tr>
              <a:tr h="857555">
                <a:tc>
                  <a:txBody>
                    <a:bodyPr/>
                    <a:lstStyle/>
                    <a:p>
                      <a:r>
                        <a:rPr lang="en-IN" dirty="0">
                          <a:latin typeface="Times New Roman" panose="02020603050405020304" pitchFamily="18" charset="0"/>
                          <a:cs typeface="Times New Roman" panose="02020603050405020304" pitchFamily="18" charset="0"/>
                          <a:hlinkClick r:id="rId5"/>
                        </a:rPr>
                        <a:t>Link</a:t>
                      </a:r>
                      <a:endParaRPr lang="en-IN" dirty="0">
                        <a:latin typeface="Times New Roman" panose="02020603050405020304" pitchFamily="18" charset="0"/>
                        <a:cs typeface="Times New Roman" panose="02020603050405020304" pitchFamily="18" charset="0"/>
                      </a:endParaRPr>
                    </a:p>
                  </a:txBody>
                  <a:tcPr/>
                </a:tc>
                <a:tc>
                  <a:txBody>
                    <a:bodyPr/>
                    <a:lstStyle/>
                    <a:p>
                      <a:pPr>
                        <a:buNone/>
                      </a:pPr>
                      <a:r>
                        <a:rPr lang="en-IN" dirty="0"/>
                        <a:t>M. Rodríguez-</a:t>
                      </a:r>
                      <a:r>
                        <a:rPr lang="en-IN" dirty="0" err="1"/>
                        <a:t>Ibánez</a:t>
                      </a:r>
                      <a:endParaRPr lang="en-IN" dirty="0"/>
                    </a:p>
                  </a:txBody>
                  <a:tcPr anchor="ctr"/>
                </a:tc>
                <a:tc>
                  <a:txBody>
                    <a:bodyPr/>
                    <a:lstStyle/>
                    <a:p>
                      <a:r>
                        <a:rPr lang="en-IN"/>
                        <a:t>ScienceDirect (Survey)</a:t>
                      </a:r>
                    </a:p>
                  </a:txBody>
                  <a:tcPr/>
                </a:tc>
                <a:tc>
                  <a:txBody>
                    <a:bodyPr/>
                    <a:lstStyle/>
                    <a:p>
                      <a:r>
                        <a:rPr lang="en-US" sz="1000" dirty="0">
                          <a:latin typeface="Times New Roman" panose="02020603050405020304" pitchFamily="18" charset="0"/>
                          <a:cs typeface="Times New Roman" panose="02020603050405020304" pitchFamily="18" charset="0"/>
                        </a:rPr>
                        <a:t>General sentiment review; lacks specific Twitter big data tool implementation.</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4760005"/>
                  </a:ext>
                </a:extLst>
              </a:tr>
              <a:tr h="857555">
                <a:tc>
                  <a:txBody>
                    <a:bodyPr/>
                    <a:lstStyle/>
                    <a:p>
                      <a:r>
                        <a:rPr lang="en-IN" dirty="0">
                          <a:latin typeface="Times New Roman" panose="02020603050405020304" pitchFamily="18" charset="0"/>
                          <a:cs typeface="Times New Roman" panose="02020603050405020304" pitchFamily="18" charset="0"/>
                          <a:hlinkClick r:id="rId6"/>
                        </a:rPr>
                        <a:t>Link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S. Das et al.</a:t>
                      </a:r>
                    </a:p>
                  </a:txBody>
                  <a:tcPr/>
                </a:tc>
                <a:tc>
                  <a:txBody>
                    <a:bodyPr/>
                    <a:lstStyle/>
                    <a:p>
                      <a:pPr>
                        <a:buNone/>
                      </a:pPr>
                      <a:r>
                        <a:rPr lang="en-IN" dirty="0"/>
                        <a:t>Elsevier Procedia (2018)</a:t>
                      </a:r>
                    </a:p>
                  </a:txBody>
                  <a:tcPr anchor="ctr"/>
                </a:tc>
                <a:tc>
                  <a:txBody>
                    <a:bodyPr/>
                    <a:lstStyle/>
                    <a:p>
                      <a:r>
                        <a:rPr lang="en-US" sz="1000" dirty="0">
                          <a:latin typeface="Times New Roman" panose="02020603050405020304" pitchFamily="18" charset="0"/>
                          <a:cs typeface="Times New Roman" panose="02020603050405020304" pitchFamily="18" charset="0"/>
                        </a:rPr>
                        <a:t>Focuses on streaming for prediction, not Hadoop storage or classification accuracy. </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4610591"/>
                  </a:ext>
                </a:extLst>
              </a:tr>
              <a:tr h="731829">
                <a:tc>
                  <a:txBody>
                    <a:bodyPr/>
                    <a:lstStyle/>
                    <a:p>
                      <a:r>
                        <a:rPr lang="en-IN" dirty="0">
                          <a:hlinkClick r:id="rId7"/>
                        </a:rPr>
                        <a:t>Link</a:t>
                      </a:r>
                      <a:endParaRPr lang="en-IN" dirty="0"/>
                    </a:p>
                  </a:txBody>
                  <a:tcPr/>
                </a:tc>
                <a:tc>
                  <a:txBody>
                    <a:bodyPr/>
                    <a:lstStyle/>
                    <a:p>
                      <a:r>
                        <a:rPr lang="en-IN" dirty="0"/>
                        <a:t>A. Sharma</a:t>
                      </a:r>
                    </a:p>
                  </a:txBody>
                  <a:tcPr/>
                </a:tc>
                <a:tc>
                  <a:txBody>
                    <a:bodyPr/>
                    <a:lstStyle/>
                    <a:p>
                      <a:r>
                        <a:rPr lang="en-IN" dirty="0"/>
                        <a:t>Elsevier (2020)</a:t>
                      </a:r>
                    </a:p>
                  </a:txBody>
                  <a:tcPr/>
                </a:tc>
                <a:tc>
                  <a:txBody>
                    <a:bodyPr/>
                    <a:lstStyle/>
                    <a:p>
                      <a:r>
                        <a:rPr lang="en-US" sz="1000" dirty="0">
                          <a:latin typeface="Times New Roman" panose="02020603050405020304" pitchFamily="18" charset="0"/>
                          <a:cs typeface="Times New Roman" panose="02020603050405020304" pitchFamily="18" charset="0"/>
                        </a:rPr>
                        <a:t>Uses R for sentiment analysis; doesn’t cover big data frameworks like Spark/Hadoop.</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448433"/>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250731"/>
            <a:ext cx="10515600" cy="5002923"/>
          </a:xfrm>
        </p:spPr>
        <p:txBody>
          <a:bodyPr>
            <a:normAutofit lnSpcReduction="10000"/>
          </a:bodyPr>
          <a:lstStyle/>
          <a:p>
            <a:r>
              <a:rPr lang="en-IN" sz="3000" dirty="0">
                <a:latin typeface="Times New Roman" panose="02020603050405020304" pitchFamily="18" charset="0"/>
                <a:cs typeface="Times New Roman" panose="02020603050405020304" pitchFamily="18" charset="0"/>
              </a:rPr>
              <a:t>Workflow:</a:t>
            </a:r>
          </a:p>
          <a:p>
            <a:pPr marL="0"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Data Collection (Twitter Dataset)</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Data Preprocessing (Cleaning text, removing stop words)</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Sentiment Classification (Positive/Negative/Neutral)</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Big Data Processing using Spark/Hadoop</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Result Visualization using graphs</a:t>
            </a:r>
          </a:p>
          <a:p>
            <a:pPr eaLnBrk="0" fontAlgn="base" hangingPunct="0">
              <a:lnSpc>
                <a:spcPct val="100000"/>
              </a:lnSpc>
              <a:spcBef>
                <a:spcPct val="0"/>
              </a:spcBef>
              <a:spcAft>
                <a:spcPct val="0"/>
              </a:spcAft>
            </a:pPr>
            <a:endParaRPr lang="en-US" altLang="en-US" sz="3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7623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BB6DDE4-1316-601E-7C5D-C2334E25A05F}"/>
              </a:ext>
            </a:extLst>
          </p:cNvPr>
          <p:cNvSpPr>
            <a:spLocks noGrp="1"/>
          </p:cNvSpPr>
          <p:nvPr>
            <p:ph type="ftr" sz="quarter" idx="11"/>
          </p:nvPr>
        </p:nvSpPr>
        <p:spPr/>
        <p:txBody>
          <a:bodyPr/>
          <a:lstStyle/>
          <a:p>
            <a:r>
              <a:rPr lang="en-US" dirty="0"/>
              <a:t>REVIEW – 1    </a:t>
            </a:r>
          </a:p>
        </p:txBody>
      </p:sp>
      <p:sp>
        <p:nvSpPr>
          <p:cNvPr id="6" name="Slide Number Placeholder 5">
            <a:extLst>
              <a:ext uri="{FF2B5EF4-FFF2-40B4-BE49-F238E27FC236}">
                <a16:creationId xmlns:a16="http://schemas.microsoft.com/office/drawing/2014/main" id="{F13325E7-4C25-A439-BADF-F85935BA5063}"/>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7" name="Title 1">
            <a:extLst>
              <a:ext uri="{FF2B5EF4-FFF2-40B4-BE49-F238E27FC236}">
                <a16:creationId xmlns:a16="http://schemas.microsoft.com/office/drawing/2014/main" id="{0744C41A-86B6-FC37-BF0D-236E88CDA316}"/>
              </a:ext>
            </a:extLst>
          </p:cNvPr>
          <p:cNvSpPr>
            <a:spLocks noGrp="1"/>
          </p:cNvSpPr>
          <p:nvPr/>
        </p:nvSpPr>
        <p:spPr>
          <a:xfrm>
            <a:off x="1981200" y="437492"/>
            <a:ext cx="8684172" cy="131247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sz="4100" dirty="0">
                <a:latin typeface="Times New Roman" panose="02020603050405020304" pitchFamily="18" charset="0"/>
                <a:cs typeface="Times New Roman" panose="02020603050405020304" pitchFamily="18" charset="0"/>
              </a:rPr>
              <a:t>System Architecture (Block Diagram)</a:t>
            </a:r>
          </a:p>
        </p:txBody>
      </p:sp>
      <p:sp>
        <p:nvSpPr>
          <p:cNvPr id="8" name="Rounded Rectangle 2">
            <a:extLst>
              <a:ext uri="{FF2B5EF4-FFF2-40B4-BE49-F238E27FC236}">
                <a16:creationId xmlns:a16="http://schemas.microsoft.com/office/drawing/2014/main" id="{A9F88CF3-9C49-5C42-152B-A7CFCB74B7D0}"/>
              </a:ext>
            </a:extLst>
          </p:cNvPr>
          <p:cNvSpPr/>
          <p:nvPr/>
        </p:nvSpPr>
        <p:spPr>
          <a:xfrm>
            <a:off x="538655" y="2557784"/>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IN" dirty="0"/>
              <a:t>Twitter Dataset</a:t>
            </a:r>
          </a:p>
        </p:txBody>
      </p:sp>
      <p:sp>
        <p:nvSpPr>
          <p:cNvPr id="9" name="Rounded Rectangle 3">
            <a:extLst>
              <a:ext uri="{FF2B5EF4-FFF2-40B4-BE49-F238E27FC236}">
                <a16:creationId xmlns:a16="http://schemas.microsoft.com/office/drawing/2014/main" id="{3090C764-6B7A-2563-B42F-867C3D71579B}"/>
              </a:ext>
            </a:extLst>
          </p:cNvPr>
          <p:cNvSpPr/>
          <p:nvPr/>
        </p:nvSpPr>
        <p:spPr>
          <a:xfrm>
            <a:off x="2824655" y="2557784"/>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IN" dirty="0"/>
              <a:t> </a:t>
            </a:r>
          </a:p>
          <a:p>
            <a:r>
              <a:rPr lang="en-IN" dirty="0"/>
              <a:t>   Hadoop      </a:t>
            </a:r>
          </a:p>
          <a:p>
            <a:r>
              <a:rPr lang="en-IN" dirty="0"/>
              <a:t>  (Storage)</a:t>
            </a:r>
          </a:p>
          <a:p>
            <a:endParaRPr dirty="0"/>
          </a:p>
        </p:txBody>
      </p:sp>
      <p:sp>
        <p:nvSpPr>
          <p:cNvPr id="10" name="Rounded Rectangle 4">
            <a:extLst>
              <a:ext uri="{FF2B5EF4-FFF2-40B4-BE49-F238E27FC236}">
                <a16:creationId xmlns:a16="http://schemas.microsoft.com/office/drawing/2014/main" id="{924BE8B6-B44E-4A45-862F-384911B1EF96}"/>
              </a:ext>
            </a:extLst>
          </p:cNvPr>
          <p:cNvSpPr/>
          <p:nvPr/>
        </p:nvSpPr>
        <p:spPr>
          <a:xfrm>
            <a:off x="5110655" y="2557784"/>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IN" dirty="0"/>
              <a:t>Spark (Processing)</a:t>
            </a:r>
          </a:p>
        </p:txBody>
      </p:sp>
      <p:sp>
        <p:nvSpPr>
          <p:cNvPr id="11" name="Rounded Rectangle 5">
            <a:extLst>
              <a:ext uri="{FF2B5EF4-FFF2-40B4-BE49-F238E27FC236}">
                <a16:creationId xmlns:a16="http://schemas.microsoft.com/office/drawing/2014/main" id="{03583ED7-329A-C913-A717-E737002F8116}"/>
              </a:ext>
            </a:extLst>
          </p:cNvPr>
          <p:cNvSpPr/>
          <p:nvPr/>
        </p:nvSpPr>
        <p:spPr>
          <a:xfrm>
            <a:off x="7396655" y="2557784"/>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lang="en-IN" dirty="0"/>
              <a:t>Sentiment Output</a:t>
            </a:r>
          </a:p>
        </p:txBody>
      </p:sp>
      <p:cxnSp>
        <p:nvCxnSpPr>
          <p:cNvPr id="12" name="Connector 6">
            <a:extLst>
              <a:ext uri="{FF2B5EF4-FFF2-40B4-BE49-F238E27FC236}">
                <a16:creationId xmlns:a16="http://schemas.microsoft.com/office/drawing/2014/main" id="{52187AE1-2692-4CA4-CBE9-78B6FE6EE1BB}"/>
              </a:ext>
            </a:extLst>
          </p:cNvPr>
          <p:cNvCxnSpPr/>
          <p:nvPr/>
        </p:nvCxnSpPr>
        <p:spPr>
          <a:xfrm>
            <a:off x="2367455" y="3014984"/>
            <a:ext cx="457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7">
            <a:extLst>
              <a:ext uri="{FF2B5EF4-FFF2-40B4-BE49-F238E27FC236}">
                <a16:creationId xmlns:a16="http://schemas.microsoft.com/office/drawing/2014/main" id="{C8A88EFF-4C33-EB88-9216-F470B07DF273}"/>
              </a:ext>
            </a:extLst>
          </p:cNvPr>
          <p:cNvCxnSpPr/>
          <p:nvPr/>
        </p:nvCxnSpPr>
        <p:spPr>
          <a:xfrm>
            <a:off x="4653455" y="3014984"/>
            <a:ext cx="457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Connector 8">
            <a:extLst>
              <a:ext uri="{FF2B5EF4-FFF2-40B4-BE49-F238E27FC236}">
                <a16:creationId xmlns:a16="http://schemas.microsoft.com/office/drawing/2014/main" id="{B2C3F271-8EA6-70E6-312E-2C9BA7A3BF97}"/>
              </a:ext>
            </a:extLst>
          </p:cNvPr>
          <p:cNvCxnSpPr/>
          <p:nvPr/>
        </p:nvCxnSpPr>
        <p:spPr>
          <a:xfrm>
            <a:off x="6939455" y="3014984"/>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Rounded Rectangle 4">
            <a:extLst>
              <a:ext uri="{FF2B5EF4-FFF2-40B4-BE49-F238E27FC236}">
                <a16:creationId xmlns:a16="http://schemas.microsoft.com/office/drawing/2014/main" id="{5AF2B8CB-DA19-B34B-AE26-17E20B095369}"/>
              </a:ext>
            </a:extLst>
          </p:cNvPr>
          <p:cNvSpPr/>
          <p:nvPr/>
        </p:nvSpPr>
        <p:spPr>
          <a:xfrm>
            <a:off x="9682655" y="2557784"/>
            <a:ext cx="18288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kumimoji="0" lang="en-US" sz="1850" b="0" i="0" u="none" strike="noStrike" kern="1200" cap="none" spc="0" normalizeH="0" baseline="0" noProof="0" dirty="0">
                <a:ln>
                  <a:noFill/>
                </a:ln>
                <a:solidFill>
                  <a:schemeClr val="bg1"/>
                </a:solidFill>
                <a:effectLst/>
                <a:uLnTx/>
                <a:uFillTx/>
                <a:latin typeface="Merriweather" pitchFamily="34" charset="0"/>
                <a:ea typeface="Merriweather" pitchFamily="34" charset="-122"/>
                <a:cs typeface="Merriweather" pitchFamily="34" charset="-120"/>
              </a:rPr>
              <a:t>Visualization</a:t>
            </a:r>
            <a:endParaRPr lang="en-IN" dirty="0">
              <a:solidFill>
                <a:schemeClr val="bg1"/>
              </a:solidFill>
            </a:endParaRPr>
          </a:p>
        </p:txBody>
      </p:sp>
      <p:cxnSp>
        <p:nvCxnSpPr>
          <p:cNvPr id="21" name="Connector 7">
            <a:extLst>
              <a:ext uri="{FF2B5EF4-FFF2-40B4-BE49-F238E27FC236}">
                <a16:creationId xmlns:a16="http://schemas.microsoft.com/office/drawing/2014/main" id="{21179CAA-7B4C-4815-B1BF-DD240DF43288}"/>
              </a:ext>
            </a:extLst>
          </p:cNvPr>
          <p:cNvCxnSpPr/>
          <p:nvPr/>
        </p:nvCxnSpPr>
        <p:spPr>
          <a:xfrm>
            <a:off x="9225455" y="3014984"/>
            <a:ext cx="457200" cy="0"/>
          </a:xfrm>
          <a:prstGeom prst="line">
            <a:avLst/>
          </a:prstGeom>
        </p:spPr>
        <p:style>
          <a:lnRef idx="2">
            <a:schemeClr val="accent1"/>
          </a:lnRef>
          <a:fillRef idx="0">
            <a:schemeClr val="accent1"/>
          </a:fillRef>
          <a:effectRef idx="1">
            <a:schemeClr val="accent1"/>
          </a:effectRef>
          <a:fontRef idx="minor">
            <a:schemeClr val="tx1"/>
          </a:fontRef>
        </p:style>
      </p:cxnSp>
      <p:pic>
        <p:nvPicPr>
          <p:cNvPr id="22" name="Image 0">
            <a:extLst>
              <a:ext uri="{FF2B5EF4-FFF2-40B4-BE49-F238E27FC236}">
                <a16:creationId xmlns:a16="http://schemas.microsoft.com/office/drawing/2014/main" id="{23ED6CD0-90CC-FC59-0353-76005FE786A0}"/>
              </a:ext>
            </a:extLst>
          </p:cNvPr>
          <p:cNvPicPr>
            <a:picLocks noChangeAspect="1"/>
          </p:cNvPicPr>
          <p:nvPr/>
        </p:nvPicPr>
        <p:blipFill>
          <a:blip r:embed="rId2"/>
          <a:stretch>
            <a:fillRect/>
          </a:stretch>
        </p:blipFill>
        <p:spPr>
          <a:xfrm>
            <a:off x="4022834" y="3843016"/>
            <a:ext cx="4114800" cy="2331702"/>
          </a:xfrm>
          <a:prstGeom prst="rect">
            <a:avLst/>
          </a:prstGeom>
        </p:spPr>
      </p:pic>
    </p:spTree>
    <p:extLst>
      <p:ext uri="{BB962C8B-B14F-4D97-AF65-F5344CB8AC3E}">
        <p14:creationId xmlns:p14="http://schemas.microsoft.com/office/powerpoint/2010/main" val="4026712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lnSpcReduction="10000"/>
          </a:bodyPr>
          <a:lstStyle/>
          <a:p>
            <a:r>
              <a:rPr lang="en-IN" sz="3000" dirty="0">
                <a:latin typeface="Times New Roman" panose="02020603050405020304" pitchFamily="18" charset="0"/>
                <a:cs typeface="Times New Roman" panose="02020603050405020304" pitchFamily="18" charset="0"/>
              </a:rPr>
              <a:t>Tools Used:</a:t>
            </a:r>
          </a:p>
          <a:p>
            <a:pPr marL="0"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Python</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Apache Spark</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Hadoop</a:t>
            </a:r>
          </a:p>
          <a:p>
            <a:pPr marL="457200" lvl="1" indent="0">
              <a:buNone/>
            </a:pPr>
            <a:endParaRPr lang="en-IN" sz="3000" dirty="0">
              <a:latin typeface="Times New Roman" panose="02020603050405020304" pitchFamily="18" charset="0"/>
              <a:cs typeface="Times New Roman" panose="02020603050405020304" pitchFamily="18" charset="0"/>
            </a:endParaRPr>
          </a:p>
          <a:p>
            <a:pPr lvl="1"/>
            <a:r>
              <a:rPr lang="en-IN" sz="3000" dirty="0">
                <a:latin typeface="Times New Roman" panose="02020603050405020304" pitchFamily="18" charset="0"/>
                <a:cs typeface="Times New Roman" panose="02020603050405020304" pitchFamily="18" charset="0"/>
              </a:rPr>
              <a:t>Platform: Visual Studio Code</a:t>
            </a:r>
          </a:p>
          <a:p>
            <a:pPr marL="457200" lvl="1" indent="0">
              <a:buNone/>
            </a:pPr>
            <a:endParaRPr lang="en-IN" sz="3000" dirty="0">
              <a:latin typeface="Times New Roman" panose="02020603050405020304" pitchFamily="18" charset="0"/>
              <a:cs typeface="Times New Roman" panose="02020603050405020304" pitchFamily="18" charset="0"/>
            </a:endParaRPr>
          </a:p>
          <a:p>
            <a:pPr lvl="1"/>
            <a:r>
              <a:rPr lang="en-IN" sz="3000" dirty="0">
                <a:latin typeface="Times New Roman" panose="02020603050405020304" pitchFamily="18" charset="0"/>
                <a:cs typeface="Times New Roman" panose="02020603050405020304" pitchFamily="18" charset="0"/>
              </a:rPr>
              <a:t>Dataset: Twitter Sentiment Dataset (Kaggle)</a:t>
            </a:r>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901262" y="1644869"/>
            <a:ext cx="10515600" cy="5002923"/>
          </a:xfrm>
        </p:spPr>
        <p:txBody>
          <a:bodyPr>
            <a:normAutofit/>
          </a:bodyPr>
          <a:lstStyle/>
          <a:p>
            <a:pPr marL="0" indent="0">
              <a:buNone/>
            </a:pPr>
            <a:r>
              <a:rPr lang="en-US" sz="3000" dirty="0">
                <a:latin typeface="Times New Roman" panose="02020603050405020304" pitchFamily="18" charset="0"/>
                <a:cs typeface="Times New Roman" panose="02020603050405020304" pitchFamily="18" charset="0"/>
              </a:rPr>
              <a:t>• Twitter data contains valuable public opinions.</a:t>
            </a:r>
          </a:p>
          <a:p>
            <a:pPr marL="0" indent="0">
              <a:buNone/>
            </a:pPr>
            <a:endParaRPr lang="en-US" sz="3000" dirty="0">
              <a:latin typeface="Times New Roman" panose="02020603050405020304" pitchFamily="18" charset="0"/>
              <a:cs typeface="Times New Roman" panose="02020603050405020304" pitchFamily="18" charset="0"/>
            </a:endParaRPr>
          </a:p>
          <a:p>
            <a:pPr marL="457200" lvl="1" indent="0">
              <a:buNone/>
            </a:pPr>
            <a:r>
              <a:rPr lang="en-US" sz="3000" dirty="0">
                <a:latin typeface="Times New Roman" panose="02020603050405020304" pitchFamily="18" charset="0"/>
                <a:cs typeface="Times New Roman" panose="02020603050405020304" pitchFamily="18" charset="0"/>
              </a:rPr>
              <a:t>• Big Data tools help process large-scale data efficiently.</a:t>
            </a:r>
          </a:p>
          <a:p>
            <a:pPr marL="457200" lvl="1" indent="0">
              <a:buNone/>
            </a:pPr>
            <a:endParaRPr lang="en-US" sz="3000" dirty="0">
              <a:latin typeface="Times New Roman" panose="02020603050405020304" pitchFamily="18" charset="0"/>
              <a:cs typeface="Times New Roman" panose="02020603050405020304" pitchFamily="18" charset="0"/>
            </a:endParaRPr>
          </a:p>
          <a:p>
            <a:pPr marL="457200" lvl="1" indent="0">
              <a:buNone/>
            </a:pPr>
            <a:r>
              <a:rPr lang="en-US" sz="3000" dirty="0">
                <a:latin typeface="Times New Roman" panose="02020603050405020304" pitchFamily="18" charset="0"/>
                <a:cs typeface="Times New Roman" panose="02020603050405020304" pitchFamily="18" charset="0"/>
              </a:rPr>
              <a:t>• Sentiment analysis helps in decision making and trend analysis.</a:t>
            </a:r>
          </a:p>
          <a:p>
            <a:pPr marL="457200" lvl="1" indent="0">
              <a:buNone/>
            </a:pPr>
            <a:endParaRPr lang="en-US" sz="3000" dirty="0">
              <a:latin typeface="Times New Roman" panose="02020603050405020304" pitchFamily="18" charset="0"/>
              <a:cs typeface="Times New Roman" panose="02020603050405020304" pitchFamily="18" charset="0"/>
            </a:endParaRPr>
          </a:p>
          <a:p>
            <a:pPr marL="457200" lvl="1" indent="0">
              <a:buNone/>
            </a:pPr>
            <a:r>
              <a:rPr lang="en-US" sz="3000" dirty="0">
                <a:latin typeface="Times New Roman" panose="02020603050405020304" pitchFamily="18" charset="0"/>
                <a:cs typeface="Times New Roman" panose="02020603050405020304" pitchFamily="18" charset="0"/>
              </a:rPr>
              <a:t>• Future work: Real-time streaming sentiment analysis.</a:t>
            </a:r>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1009409" y="1858655"/>
            <a:ext cx="10515600" cy="5002923"/>
          </a:xfrm>
        </p:spPr>
        <p:txBody>
          <a:bodyPr>
            <a:normAutofit/>
          </a:bodyPr>
          <a:lstStyle/>
          <a:p>
            <a:pPr marL="0" indent="0">
              <a:buNone/>
            </a:pPr>
            <a:r>
              <a:rPr lang="en-IN" sz="3000" dirty="0">
                <a:latin typeface="Times New Roman" panose="02020603050405020304" pitchFamily="18" charset="0"/>
                <a:cs typeface="Times New Roman" panose="02020603050405020304" pitchFamily="18" charset="0"/>
              </a:rPr>
              <a:t>• Big Data Sentiment Analysis of Twitter Data (Base Paper)</a:t>
            </a:r>
          </a:p>
          <a:p>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Research articles from Google Scholar</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Kaggle Twitter Sentiment Dataset</a:t>
            </a:r>
          </a:p>
          <a:p>
            <a:pPr marL="457200" lvl="1" indent="0">
              <a:buNone/>
            </a:pPr>
            <a:endParaRPr lang="en-IN" sz="3000" dirty="0">
              <a:latin typeface="Times New Roman" panose="02020603050405020304" pitchFamily="18" charset="0"/>
              <a:cs typeface="Times New Roman" panose="02020603050405020304" pitchFamily="18" charset="0"/>
            </a:endParaRPr>
          </a:p>
          <a:p>
            <a:pPr marL="457200" lvl="1" indent="0">
              <a:buNone/>
            </a:pPr>
            <a:r>
              <a:rPr lang="en-IN" sz="3000" dirty="0">
                <a:latin typeface="Times New Roman" panose="02020603050405020304" pitchFamily="18" charset="0"/>
                <a:cs typeface="Times New Roman" panose="02020603050405020304" pitchFamily="18" charset="0"/>
              </a:rPr>
              <a:t>• Apache Spark and Hadoop documentation</a:t>
            </a:r>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742</Words>
  <Application>Microsoft Office PowerPoint</Application>
  <PresentationFormat>Widescreen</PresentationFormat>
  <Paragraphs>137</Paragraphs>
  <Slides>12</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Merriweather</vt:lpstr>
      <vt:lpstr>Times New Roman</vt:lpstr>
      <vt:lpstr>Office Theme</vt:lpstr>
      <vt:lpstr>Custom Design</vt:lpstr>
      <vt:lpstr>Big Data Technologies REVIEW – 1  Social Media Sentiment Analysis on Twitter </vt:lpstr>
      <vt:lpstr>OUTLINE</vt:lpstr>
      <vt:lpstr>                           Abstract</vt:lpstr>
      <vt:lpstr>Introduction</vt:lpstr>
      <vt:lpstr>Objectives </vt:lpstr>
      <vt:lpstr>Literature Survey</vt:lpstr>
      <vt:lpstr>Proposed Method</vt:lpstr>
      <vt:lpstr>PowerPoint Presentation</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KARTHIKEYA SOMISETTY</dc:creator>
  <cp:lastModifiedBy>SOMISETTY VENKATA KARTHIKEYA</cp:lastModifiedBy>
  <cp:revision>5</cp:revision>
  <dcterms:modified xsi:type="dcterms:W3CDTF">2026-02-26T03:01:59Z</dcterms:modified>
</cp:coreProperties>
</file>